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8" r:id="rId4"/>
    <p:sldId id="259" r:id="rId5"/>
    <p:sldId id="261" r:id="rId6"/>
    <p:sldId id="262" r:id="rId7"/>
    <p:sldId id="263" r:id="rId8"/>
    <p:sldId id="264" r:id="rId9"/>
    <p:sldId id="265" r:id="rId10"/>
    <p:sldId id="266" r:id="rId11"/>
    <p:sldId id="267"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6874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6358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8515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0991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7988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33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3302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28109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5275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5098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64730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431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30779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336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29378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178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12/31/2025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6707090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6857999"/>
          </a:xfrm>
        </p:spPr>
        <p:txBody>
          <a:bodyPr>
            <a:normAutofit fontScale="90000"/>
          </a:bodyPr>
          <a:lstStyle/>
          <a:p>
            <a:pPr algn="ctr"/>
            <a:r>
              <a:rPr lang="en-US" sz="3200" b="1" dirty="0">
                <a:solidFill>
                  <a:srgbClr val="0070C0"/>
                </a:solidFill>
                <a:latin typeface="Times New Roman" panose="02020603050405020304" pitchFamily="18" charset="0"/>
                <a:cs typeface="Times New Roman" panose="02020603050405020304" pitchFamily="18" charset="0"/>
              </a:rPr>
              <a:t>VISVESVARAYA TECHNOLOGICAL UNIVERSITY</a:t>
            </a:r>
            <a:br>
              <a:rPr lang="en-US" dirty="0"/>
            </a:br>
            <a:r>
              <a:rPr lang="en-US" sz="2000" dirty="0">
                <a:solidFill>
                  <a:schemeClr val="tx1"/>
                </a:solidFill>
                <a:latin typeface="Times New Roman" panose="02020603050405020304" pitchFamily="18" charset="0"/>
                <a:cs typeface="Times New Roman" panose="02020603050405020304" pitchFamily="18" charset="0"/>
              </a:rPr>
              <a:t> </a:t>
            </a:r>
            <a:r>
              <a:rPr lang="en-US" sz="2000" b="1" dirty="0">
                <a:solidFill>
                  <a:schemeClr val="tx1"/>
                </a:solidFill>
                <a:latin typeface="Times New Roman" panose="02020603050405020304" pitchFamily="18" charset="0"/>
                <a:cs typeface="Times New Roman" panose="02020603050405020304" pitchFamily="18" charset="0"/>
              </a:rPr>
              <a:t>Jnana Sangama, Belagavi-590018.</a:t>
            </a:r>
            <a:br>
              <a:rPr lang="en-IN" sz="2400" b="1" dirty="0">
                <a:solidFill>
                  <a:schemeClr val="accent1"/>
                </a:solidFill>
              </a:rPr>
            </a:br>
            <a:br>
              <a:rPr lang="en-IN" sz="2400" b="1" dirty="0">
                <a:solidFill>
                  <a:schemeClr val="accent1"/>
                </a:solidFill>
              </a:rPr>
            </a:br>
            <a:br>
              <a:rPr lang="en-IN" sz="2400" b="1" dirty="0">
                <a:solidFill>
                  <a:schemeClr val="accent1"/>
                </a:solidFill>
              </a:rPr>
            </a:br>
            <a:br>
              <a:rPr lang="en-US" sz="12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solidFill>
                  <a:schemeClr val="tx1"/>
                </a:solidFill>
                <a:latin typeface="Times New Roman" panose="02020603050405020304" pitchFamily="18" charset="0"/>
                <a:cs typeface="Times New Roman" panose="02020603050405020304" pitchFamily="18" charset="0"/>
              </a:rPr>
            </a:br>
            <a:r>
              <a:rPr lang="en-US" sz="2000" i="1" dirty="0">
                <a:solidFill>
                  <a:schemeClr val="tx1"/>
                </a:solidFill>
                <a:latin typeface="Times New Roman" panose="02020603050405020304" pitchFamily="18" charset="0"/>
                <a:cs typeface="Times New Roman" panose="02020603050405020304" pitchFamily="18" charset="0"/>
              </a:rPr>
              <a:t>An Internship Report on </a:t>
            </a:r>
            <a:br>
              <a:rPr lang="en-US" sz="2400" dirty="0">
                <a:latin typeface="Times New Roman" panose="02020603050405020304" pitchFamily="18" charset="0"/>
                <a:cs typeface="Times New Roman" panose="02020603050405020304" pitchFamily="18" charset="0"/>
              </a:rPr>
            </a:br>
            <a:r>
              <a:rPr lang="en-US" sz="2700" dirty="0">
                <a:solidFill>
                  <a:srgbClr val="0070C0"/>
                </a:solidFill>
                <a:latin typeface="Times New Roman" panose="02020603050405020304" pitchFamily="18" charset="0"/>
                <a:cs typeface="Times New Roman" panose="02020603050405020304" pitchFamily="18" charset="0"/>
              </a:rPr>
              <a:t>“WEBSITE FORENSIC” </a:t>
            </a:r>
            <a:br>
              <a:rPr lang="en-US" sz="27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200" b="1" i="1" dirty="0">
                <a:solidFill>
                  <a:schemeClr val="tx1"/>
                </a:solidFill>
                <a:latin typeface="Times New Roman" panose="02020603050405020304" pitchFamily="18" charset="0"/>
                <a:cs typeface="Times New Roman" panose="02020603050405020304" pitchFamily="18" charset="0"/>
              </a:rPr>
              <a:t>Submitted in the partial fulfillment of the requirements for the award of the Degree of Master of technology </a:t>
            </a:r>
            <a:br>
              <a:rPr lang="en-US" sz="2400" dirty="0">
                <a:latin typeface="Times New Roman" panose="02020603050405020304" pitchFamily="18" charset="0"/>
                <a:cs typeface="Times New Roman" panose="02020603050405020304" pitchFamily="18" charset="0"/>
              </a:rPr>
            </a:br>
            <a:r>
              <a:rPr lang="en-US" sz="2200" b="1" i="1" dirty="0">
                <a:latin typeface="Times New Roman" panose="02020603050405020304" pitchFamily="18" charset="0"/>
                <a:cs typeface="Times New Roman" panose="02020603050405020304" pitchFamily="18" charset="0"/>
              </a:rPr>
              <a:t>in </a:t>
            </a:r>
            <a:br>
              <a:rPr lang="en-US" sz="2400" dirty="0">
                <a:latin typeface="Times New Roman" panose="02020603050405020304" pitchFamily="18" charset="0"/>
                <a:cs typeface="Times New Roman" panose="02020603050405020304" pitchFamily="18" charset="0"/>
              </a:rPr>
            </a:br>
            <a:r>
              <a:rPr lang="en-US" sz="2400" b="1" i="1" dirty="0">
                <a:solidFill>
                  <a:srgbClr val="0070C0"/>
                </a:solidFill>
                <a:latin typeface="Times New Roman" panose="02020603050405020304" pitchFamily="18" charset="0"/>
                <a:cs typeface="Times New Roman" panose="02020603050405020304" pitchFamily="18" charset="0"/>
              </a:rPr>
              <a:t>Cyber Security </a:t>
            </a:r>
            <a:br>
              <a:rPr lang="en-US" sz="2400" dirty="0">
                <a:latin typeface="Times New Roman" panose="02020603050405020304" pitchFamily="18" charset="0"/>
                <a:cs typeface="Times New Roman" panose="02020603050405020304" pitchFamily="18" charset="0"/>
              </a:rPr>
            </a:br>
            <a:r>
              <a:rPr lang="en-US" sz="2400" i="1" dirty="0">
                <a:solidFill>
                  <a:schemeClr val="tx1"/>
                </a:solidFill>
                <a:latin typeface="Times New Roman" panose="02020603050405020304" pitchFamily="18" charset="0"/>
                <a:cs typeface="Times New Roman" panose="02020603050405020304" pitchFamily="18" charset="0"/>
              </a:rPr>
              <a:t>By </a:t>
            </a:r>
            <a:br>
              <a:rPr lang="en-US" sz="2400" dirty="0">
                <a:solidFill>
                  <a:schemeClr val="tx1"/>
                </a:solidFill>
                <a:latin typeface="Times New Roman" panose="02020603050405020304" pitchFamily="18" charset="0"/>
                <a:cs typeface="Times New Roman" panose="02020603050405020304" pitchFamily="18" charset="0"/>
              </a:rPr>
            </a:br>
            <a:r>
              <a:rPr lang="en-US" sz="2200" dirty="0">
                <a:solidFill>
                  <a:schemeClr val="tx1"/>
                </a:solidFill>
                <a:latin typeface="Times New Roman" panose="02020603050405020304" pitchFamily="18" charset="0"/>
                <a:cs typeface="Times New Roman" panose="02020603050405020304" pitchFamily="18" charset="0"/>
              </a:rPr>
              <a:t>CHANDRU R (1OX24SCR04)</a:t>
            </a:r>
            <a:br>
              <a:rPr lang="en-US" sz="22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cs typeface="Times New Roman" panose="02020603050405020304" pitchFamily="18" charset="0"/>
              </a:rPr>
              <a:t>Under the guidance of </a:t>
            </a:r>
            <a:br>
              <a:rPr lang="en-US" sz="2400" dirty="0">
                <a:solidFill>
                  <a:srgbClr val="0070C0"/>
                </a:solidFill>
                <a:latin typeface="Times New Roman" panose="02020603050405020304" pitchFamily="18" charset="0"/>
                <a:cs typeface="Times New Roman" panose="02020603050405020304" pitchFamily="18" charset="0"/>
              </a:rPr>
            </a:br>
            <a:r>
              <a:rPr lang="en-US" sz="2400" dirty="0">
                <a:solidFill>
                  <a:schemeClr val="tx1"/>
                </a:solidFill>
                <a:latin typeface="Times New Roman" panose="02020603050405020304" pitchFamily="18" charset="0"/>
                <a:cs typeface="Times New Roman" panose="02020603050405020304" pitchFamily="18" charset="0"/>
              </a:rPr>
              <a:t>Mr. Karthik</a:t>
            </a:r>
            <a:endParaRPr sz="1200" dirty="0">
              <a:solidFill>
                <a:schemeClr val="tx1"/>
              </a:solidFill>
              <a:latin typeface="Times New Roman" panose="02020603050405020304" pitchFamily="18" charset="0"/>
              <a:cs typeface="Times New Roman" panose="02020603050405020304" pitchFamily="18" charset="0"/>
            </a:endParaRPr>
          </a:p>
        </p:txBody>
      </p:sp>
      <p:pic>
        <p:nvPicPr>
          <p:cNvPr id="6" name="Image 1">
            <a:extLst>
              <a:ext uri="{FF2B5EF4-FFF2-40B4-BE49-F238E27FC236}">
                <a16:creationId xmlns:a16="http://schemas.microsoft.com/office/drawing/2014/main" id="{D41C6DFF-BA4F-1F5B-BBAE-7FA38265AD89}"/>
              </a:ext>
            </a:extLst>
          </p:cNvPr>
          <p:cNvPicPr>
            <a:picLocks/>
          </p:cNvPicPr>
          <p:nvPr/>
        </p:nvPicPr>
        <p:blipFill>
          <a:blip r:embed="rId2" cstate="print"/>
          <a:stretch>
            <a:fillRect/>
          </a:stretch>
        </p:blipFill>
        <p:spPr>
          <a:xfrm>
            <a:off x="3786663" y="1175847"/>
            <a:ext cx="1570673" cy="16798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dirty="0"/>
          </a:p>
        </p:txBody>
      </p:sp>
      <p:sp>
        <p:nvSpPr>
          <p:cNvPr id="3" name="Content Placeholder 2"/>
          <p:cNvSpPr>
            <a:spLocks noGrp="1"/>
          </p:cNvSpPr>
          <p:nvPr>
            <p:ph idx="1"/>
          </p:nvPr>
        </p:nvSpPr>
        <p:spPr/>
        <p:txBody>
          <a:bodyPr>
            <a:normAutofit fontScale="92500" lnSpcReduction="10000"/>
          </a:bodyPr>
          <a:lstStyle/>
          <a:p>
            <a:pPr algn="just"/>
            <a:r>
              <a:rPr lang="en-US" sz="2800" dirty="0">
                <a:latin typeface="Times New Roman" panose="02020603050405020304" pitchFamily="18" charset="0"/>
                <a:cs typeface="Times New Roman" panose="02020603050405020304" pitchFamily="18" charset="0"/>
              </a:rPr>
              <a:t>Website forensics focuses on the collection, preservation, and analysis of website-related digital evidence. </a:t>
            </a:r>
          </a:p>
          <a:p>
            <a:pPr marL="0" indent="0" algn="just">
              <a:buNone/>
            </a:pPr>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It plays a crucial role in cybercrime investigations such as website defacement, phishing attacks, and unauthorized access, helping investigators ensure data integrity and legal validity.</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a:t>
            </a:r>
            <a:r>
              <a:rPr lang="en-US" dirty="0"/>
              <a:t>OMPANY </a:t>
            </a:r>
            <a:r>
              <a:rPr dirty="0"/>
              <a:t>P</a:t>
            </a:r>
            <a:r>
              <a:rPr lang="en-US" dirty="0"/>
              <a:t>ROFILE </a:t>
            </a:r>
            <a:r>
              <a:rPr dirty="0"/>
              <a:t>– </a:t>
            </a:r>
            <a:r>
              <a:rPr lang="en-US" dirty="0"/>
              <a:t>I</a:t>
            </a:r>
            <a:r>
              <a:rPr dirty="0"/>
              <a:t>G</a:t>
            </a:r>
            <a:r>
              <a:rPr lang="en-US" dirty="0"/>
              <a:t>REEKS</a:t>
            </a:r>
            <a:endParaRPr dirty="0"/>
          </a:p>
        </p:txBody>
      </p:sp>
      <p:sp>
        <p:nvSpPr>
          <p:cNvPr id="3" name="Content Placeholder 2"/>
          <p:cNvSpPr>
            <a:spLocks noGrp="1"/>
          </p:cNvSpPr>
          <p:nvPr>
            <p:ph idx="1"/>
          </p:nvPr>
        </p:nvSpPr>
        <p:spPr/>
        <p:txBody>
          <a:bodyPr>
            <a:normAutofit fontScale="92500" lnSpcReduction="20000"/>
          </a:bodyPr>
          <a:lstStyle/>
          <a:p>
            <a:r>
              <a:rPr lang="en-US" sz="2800" dirty="0" err="1">
                <a:latin typeface="Times New Roman" panose="02020603050405020304" pitchFamily="18" charset="0"/>
                <a:cs typeface="Times New Roman" panose="02020603050405020304" pitchFamily="18" charset="0"/>
              </a:rPr>
              <a:t>iGreeks</a:t>
            </a:r>
            <a:r>
              <a:rPr lang="en-US" sz="2800" dirty="0">
                <a:latin typeface="Times New Roman" panose="02020603050405020304" pitchFamily="18" charset="0"/>
                <a:cs typeface="Times New Roman" panose="02020603050405020304" pitchFamily="18" charset="0"/>
              </a:rPr>
              <a:t> is an IT and Cyber Security–focused organization that provides technical training, digital forensics guidance, and academic project support.</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The company emphasizes practical learning, industry-relevant skills, hands-on exposure to real-world cyber security tools, and supports students in building career-oriented technical expertise.</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t>
            </a:r>
            <a:r>
              <a:rPr lang="en-US" dirty="0"/>
              <a:t>ROJECT </a:t>
            </a:r>
            <a:r>
              <a:rPr dirty="0"/>
              <a:t>O</a:t>
            </a:r>
            <a:r>
              <a:rPr lang="en-US" dirty="0"/>
              <a:t>BJECTIVE</a:t>
            </a:r>
            <a:endParaRPr dirty="0"/>
          </a:p>
        </p:txBody>
      </p:sp>
      <p:sp>
        <p:nvSpPr>
          <p:cNvPr id="3" name="Content Placeholder 2"/>
          <p:cNvSpPr>
            <a:spLocks noGrp="1"/>
          </p:cNvSpPr>
          <p:nvPr>
            <p:ph idx="1"/>
          </p:nvPr>
        </p:nvSpPr>
        <p:spPr/>
        <p:txBody>
          <a:bodyPr>
            <a:normAutofit fontScale="92500"/>
          </a:bodyPr>
          <a:lstStyle/>
          <a:p>
            <a:r>
              <a:rPr lang="en-US" sz="2800" dirty="0">
                <a:latin typeface="Times New Roman" panose="02020603050405020304" pitchFamily="18" charset="0"/>
                <a:cs typeface="Times New Roman" panose="02020603050405020304" pitchFamily="18" charset="0"/>
              </a:rPr>
              <a:t>To perform forensic acquisition of a target website in a forensically sound manner.</a:t>
            </a:r>
          </a:p>
          <a:p>
            <a:pPr marL="0" indent="0">
              <a:buNone/>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To capture and preserve website-related network traffic and session data.</a:t>
            </a:r>
          </a:p>
          <a:p>
            <a:pPr marL="0" indent="0">
              <a:buNone/>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To analyze the collected evidence using forensic tools such as FAW and Wireshark.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S</a:t>
            </a:r>
            <a:r>
              <a:rPr lang="en-US" dirty="0"/>
              <a:t>YSTEM </a:t>
            </a:r>
            <a:r>
              <a:rPr dirty="0"/>
              <a:t>R</a:t>
            </a:r>
            <a:r>
              <a:rPr lang="en-US" dirty="0"/>
              <a:t>EQUIREMENTS</a:t>
            </a:r>
            <a:endParaRPr dirty="0"/>
          </a:p>
        </p:txBody>
      </p:sp>
      <p:sp>
        <p:nvSpPr>
          <p:cNvPr id="3" name="Content Placeholder 2"/>
          <p:cNvSpPr>
            <a:spLocks noGrp="1"/>
          </p:cNvSpPr>
          <p:nvPr>
            <p:ph idx="1"/>
          </p:nvPr>
        </p:nvSpPr>
        <p:spPr>
          <a:xfrm>
            <a:off x="0" y="1600200"/>
            <a:ext cx="9144000" cy="4525963"/>
          </a:xfrm>
        </p:spPr>
        <p:txBody>
          <a:bodyPr>
            <a:normAutofit fontScale="92500" lnSpcReduction="20000"/>
          </a:bodyPr>
          <a:lstStyle/>
          <a:p>
            <a:r>
              <a:rPr lang="en-US" sz="3000" b="1" dirty="0">
                <a:latin typeface="Times New Roman" panose="02020603050405020304" pitchFamily="18" charset="0"/>
                <a:cs typeface="Times New Roman" panose="02020603050405020304" pitchFamily="18" charset="0"/>
              </a:rPr>
              <a:t>Hardware Requirements:</a:t>
            </a:r>
            <a:endParaRPr lang="en-US" sz="3000" dirty="0">
              <a:latin typeface="Times New Roman" panose="02020603050405020304" pitchFamily="18" charset="0"/>
              <a:cs typeface="Times New Roman" panose="02020603050405020304" pitchFamily="18" charset="0"/>
            </a:endParaRPr>
          </a:p>
          <a:p>
            <a:pPr marL="0" indent="0">
              <a:buNone/>
            </a:pPr>
            <a:r>
              <a:rPr lang="en-US" sz="3000" dirty="0">
                <a:latin typeface="Times New Roman" panose="02020603050405020304" pitchFamily="18" charset="0"/>
                <a:cs typeface="Times New Roman" panose="02020603050405020304" pitchFamily="18" charset="0"/>
              </a:rPr>
              <a:t>		Processor: Intel i3 or higher</a:t>
            </a:r>
          </a:p>
          <a:p>
            <a:pPr marL="0" indent="0">
              <a:buNone/>
            </a:pPr>
            <a:r>
              <a:rPr lang="en-US" sz="3000" dirty="0">
                <a:latin typeface="Times New Roman" panose="02020603050405020304" pitchFamily="18" charset="0"/>
                <a:cs typeface="Times New Roman" panose="02020603050405020304" pitchFamily="18" charset="0"/>
              </a:rPr>
              <a:t>		RAM: Minimum 4 GB</a:t>
            </a:r>
          </a:p>
          <a:p>
            <a:pPr marL="0" indent="0">
              <a:buNone/>
            </a:pPr>
            <a:r>
              <a:rPr lang="en-US" sz="3000" dirty="0">
                <a:latin typeface="Times New Roman" panose="02020603050405020304" pitchFamily="18" charset="0"/>
                <a:cs typeface="Times New Roman" panose="02020603050405020304" pitchFamily="18" charset="0"/>
              </a:rPr>
              <a:t>		Storage: 10 GB free disk space</a:t>
            </a:r>
          </a:p>
          <a:p>
            <a:pPr marL="0" indent="0">
              <a:buNone/>
            </a:pPr>
            <a:endParaRPr lang="en-US" sz="3000" dirty="0">
              <a:latin typeface="Times New Roman" panose="02020603050405020304" pitchFamily="18" charset="0"/>
              <a:cs typeface="Times New Roman" panose="02020603050405020304" pitchFamily="18" charset="0"/>
            </a:endParaRPr>
          </a:p>
          <a:p>
            <a:r>
              <a:rPr lang="en-US" sz="3000" b="1" dirty="0">
                <a:latin typeface="Times New Roman" panose="02020603050405020304" pitchFamily="18" charset="0"/>
                <a:cs typeface="Times New Roman" panose="02020603050405020304" pitchFamily="18" charset="0"/>
              </a:rPr>
              <a:t>Software Requirements:</a:t>
            </a:r>
            <a:endParaRPr lang="en-US" sz="3000" dirty="0">
              <a:latin typeface="Times New Roman" panose="02020603050405020304" pitchFamily="18" charset="0"/>
              <a:cs typeface="Times New Roman" panose="02020603050405020304" pitchFamily="18" charset="0"/>
            </a:endParaRPr>
          </a:p>
          <a:p>
            <a:pPr marL="0" indent="0">
              <a:buNone/>
            </a:pPr>
            <a:r>
              <a:rPr lang="en-US" sz="3000" dirty="0">
                <a:latin typeface="Times New Roman" panose="02020603050405020304" pitchFamily="18" charset="0"/>
                <a:cs typeface="Times New Roman" panose="02020603050405020304" pitchFamily="18" charset="0"/>
              </a:rPr>
              <a:t>		Operating System: Windows 10 / Windows 11</a:t>
            </a:r>
          </a:p>
          <a:p>
            <a:pPr marL="0" indent="0">
              <a:buNone/>
            </a:pPr>
            <a:r>
              <a:rPr lang="en-US" sz="3000" dirty="0">
                <a:latin typeface="Times New Roman" panose="02020603050405020304" pitchFamily="18" charset="0"/>
                <a:cs typeface="Times New Roman" panose="02020603050405020304" pitchFamily="18" charset="0"/>
              </a:rPr>
              <a:t>		FAW (Forensic Acquisition of Websites) – Lite Version</a:t>
            </a:r>
          </a:p>
          <a:p>
            <a:pPr marL="0" indent="0">
              <a:buNone/>
            </a:pPr>
            <a:r>
              <a:rPr lang="en-US" sz="3000" dirty="0">
                <a:latin typeface="Times New Roman" panose="02020603050405020304" pitchFamily="18" charset="0"/>
                <a:cs typeface="Times New Roman" panose="02020603050405020304" pitchFamily="18" charset="0"/>
              </a:rPr>
              <a:t>		Wireshark</a:t>
            </a:r>
          </a:p>
          <a:p>
            <a:pPr marL="0" indent="0">
              <a:buNone/>
            </a:pPr>
            <a:endParaRPr lang="en-US" dirty="0"/>
          </a:p>
          <a:p>
            <a:pPr marL="0" indent="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a:t>
            </a:r>
            <a:r>
              <a:rPr lang="en-US" dirty="0"/>
              <a:t>ETHODOLOGY</a:t>
            </a:r>
            <a:endParaRPr dirty="0"/>
          </a:p>
        </p:txBody>
      </p:sp>
      <p:sp>
        <p:nvSpPr>
          <p:cNvPr id="7" name="Content Placeholder 6">
            <a:extLst>
              <a:ext uri="{FF2B5EF4-FFF2-40B4-BE49-F238E27FC236}">
                <a16:creationId xmlns:a16="http://schemas.microsoft.com/office/drawing/2014/main" id="{0BFAD018-0319-9ECC-C139-7429FF2DCFB5}"/>
              </a:ext>
            </a:extLst>
          </p:cNvPr>
          <p:cNvSpPr>
            <a:spLocks noGrp="1"/>
          </p:cNvSpPr>
          <p:nvPr>
            <p:ph idx="1"/>
          </p:nvPr>
        </p:nvSpPr>
        <p:spPr/>
        <p:txBody>
          <a:bodyPr/>
          <a:lstStyle/>
          <a:p>
            <a:pPr>
              <a:lnSpc>
                <a:spcPct val="150000"/>
              </a:lnSpc>
            </a:pPr>
            <a:r>
              <a:rPr lang="en-US" dirty="0"/>
              <a:t> Create a new forensic case using the FAW tool</a:t>
            </a:r>
          </a:p>
          <a:p>
            <a:pPr>
              <a:lnSpc>
                <a:spcPct val="150000"/>
              </a:lnSpc>
            </a:pPr>
            <a:r>
              <a:rPr lang="en-US" dirty="0"/>
              <a:t>Select </a:t>
            </a:r>
            <a:r>
              <a:rPr lang="en-US" b="1" dirty="0"/>
              <a:t>Chromium Lite</a:t>
            </a:r>
            <a:r>
              <a:rPr lang="en-US" dirty="0"/>
              <a:t> browser for acquisition</a:t>
            </a:r>
          </a:p>
          <a:p>
            <a:pPr>
              <a:lnSpc>
                <a:spcPct val="150000"/>
              </a:lnSpc>
            </a:pPr>
            <a:r>
              <a:rPr lang="en-IN" dirty="0"/>
              <a:t>Initiate website forensic acquisition</a:t>
            </a:r>
          </a:p>
          <a:p>
            <a:pPr>
              <a:lnSpc>
                <a:spcPct val="150000"/>
              </a:lnSpc>
            </a:pPr>
            <a:r>
              <a:rPr lang="en-US" dirty="0"/>
              <a:t>Stop the process and securely save the collected evidence</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a:t>
            </a:r>
            <a:r>
              <a:rPr lang="en-US" dirty="0"/>
              <a:t>VIDENCE </a:t>
            </a:r>
            <a:r>
              <a:rPr dirty="0"/>
              <a:t>C</a:t>
            </a:r>
            <a:r>
              <a:rPr lang="en-US" dirty="0"/>
              <a:t>OLLECTED</a:t>
            </a:r>
            <a:endParaRPr dirty="0"/>
          </a:p>
        </p:txBody>
      </p:sp>
      <p:sp>
        <p:nvSpPr>
          <p:cNvPr id="3" name="Content Placeholder 2"/>
          <p:cNvSpPr>
            <a:spLocks noGrp="1"/>
          </p:cNvSpPr>
          <p:nvPr>
            <p:ph idx="1"/>
          </p:nvPr>
        </p:nvSpPr>
        <p:spPr/>
        <p:txBody>
          <a:bodyPr/>
          <a:lstStyle/>
          <a:p>
            <a:pPr>
              <a:lnSpc>
                <a:spcPct val="150000"/>
              </a:lnSpc>
            </a:pPr>
            <a:r>
              <a:rPr lang="en-IN" dirty="0">
                <a:latin typeface="Times New Roman" panose="02020603050405020304" pitchFamily="18" charset="0"/>
                <a:cs typeface="Times New Roman" panose="02020603050405020304" pitchFamily="18" charset="0"/>
              </a:rPr>
              <a:t>Network dump files (PCAP)</a:t>
            </a:r>
          </a:p>
          <a:p>
            <a:pPr>
              <a:lnSpc>
                <a:spcPct val="150000"/>
              </a:lnSpc>
            </a:pPr>
            <a:r>
              <a:rPr lang="en-US" dirty="0">
                <a:latin typeface="Times New Roman" panose="02020603050405020304" pitchFamily="18" charset="0"/>
                <a:cs typeface="Times New Roman" panose="02020603050405020304" pitchFamily="18" charset="0"/>
              </a:rPr>
              <a:t>Cookies and session data</a:t>
            </a:r>
          </a:p>
          <a:p>
            <a:pPr>
              <a:lnSpc>
                <a:spcPct val="150000"/>
              </a:lnSpc>
            </a:pPr>
            <a:r>
              <a:rPr lang="en-US" dirty="0">
                <a:latin typeface="Times New Roman" panose="02020603050405020304" pitchFamily="18" charset="0"/>
                <a:cs typeface="Times New Roman" panose="02020603050405020304" pitchFamily="18" charset="0"/>
              </a:rPr>
              <a:t>Screen recording of website interaction</a:t>
            </a:r>
          </a:p>
          <a:p>
            <a:pPr>
              <a:lnSpc>
                <a:spcPct val="150000"/>
              </a:lnSpc>
            </a:pPr>
            <a:r>
              <a:rPr lang="en-US" dirty="0">
                <a:latin typeface="Times New Roman" panose="02020603050405020304" pitchFamily="18" charset="0"/>
                <a:cs typeface="Times New Roman" panose="02020603050405020304" pitchFamily="18" charset="0"/>
              </a:rPr>
              <a:t>Logs and metadata generated by FAW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A</a:t>
            </a:r>
            <a:r>
              <a:rPr lang="en-US" dirty="0"/>
              <a:t>NALYSIS USING </a:t>
            </a:r>
            <a:r>
              <a:rPr dirty="0"/>
              <a:t>W</a:t>
            </a:r>
            <a:r>
              <a:rPr lang="en-US" dirty="0"/>
              <a:t>IRESHARK</a:t>
            </a:r>
            <a:endParaRPr dirty="0"/>
          </a:p>
        </p:txBody>
      </p:sp>
      <p:sp>
        <p:nvSpPr>
          <p:cNvPr id="3" name="Content Placeholder 2"/>
          <p:cNvSpPr>
            <a:spLocks noGrp="1"/>
          </p:cNvSpPr>
          <p:nvPr>
            <p:ph idx="1"/>
          </p:nvPr>
        </p:nvSpPr>
        <p:spPr/>
        <p:txBody>
          <a:bodyPr/>
          <a:lstStyle/>
          <a:p>
            <a:r>
              <a:rPr lang="en-IN" b="1" dirty="0"/>
              <a:t>DNS queries</a:t>
            </a:r>
            <a:r>
              <a:rPr lang="en-IN" dirty="0"/>
              <a:t> identifying domain name resolution</a:t>
            </a:r>
            <a:endParaRPr dirty="0"/>
          </a:p>
          <a:p>
            <a:r>
              <a:rPr lang="en-US" b="1" dirty="0"/>
              <a:t>TCP connections</a:t>
            </a:r>
            <a:r>
              <a:rPr lang="en-US" dirty="0"/>
              <a:t> establishing communication between client and server </a:t>
            </a:r>
          </a:p>
          <a:p>
            <a:r>
              <a:rPr lang="en-US" b="1" dirty="0"/>
              <a:t>TLS encrypted traffic</a:t>
            </a:r>
            <a:r>
              <a:rPr lang="en-US" dirty="0"/>
              <a:t> confirming secure data transmission</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a:t>
            </a:r>
            <a:r>
              <a:rPr lang="en-US" dirty="0"/>
              <a:t>ESULTS</a:t>
            </a:r>
            <a:endParaRPr dirty="0"/>
          </a:p>
        </p:txBody>
      </p:sp>
      <p:sp>
        <p:nvSpPr>
          <p:cNvPr id="3" name="Content Placeholder 2"/>
          <p:cNvSpPr>
            <a:spLocks noGrp="1"/>
          </p:cNvSpPr>
          <p:nvPr>
            <p:ph idx="1"/>
          </p:nvPr>
        </p:nvSpPr>
        <p:spPr/>
        <p:txBody>
          <a:bodyPr>
            <a:normAutofit fontScale="92500" lnSpcReduction="10000"/>
          </a:bodyPr>
          <a:lstStyle/>
          <a:p>
            <a:pPr algn="just"/>
            <a:r>
              <a:rPr lang="en-US" sz="2800" dirty="0">
                <a:latin typeface="Times New Roman" panose="02020603050405020304" pitchFamily="18" charset="0"/>
                <a:cs typeface="Times New Roman" panose="02020603050405020304" pitchFamily="18" charset="0"/>
              </a:rPr>
              <a:t>The website traffic was successfully captured during the forensic acquisition process using the FAW tool. Network-related digital evidence was preserved in a forensically sound manner, ensuring data integrity and authenticity. The collected artifacts, including network dump files and session data, were suitable for further forensic analysis and investigation using Wireshark.</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t>
            </a:r>
            <a:r>
              <a:rPr lang="en-US" dirty="0"/>
              <a:t>ONCLUSION</a:t>
            </a:r>
            <a:endParaRPr dirty="0"/>
          </a:p>
        </p:txBody>
      </p:sp>
      <p:sp>
        <p:nvSpPr>
          <p:cNvPr id="3" name="Content Placeholder 2"/>
          <p:cNvSpPr>
            <a:spLocks noGrp="1"/>
          </p:cNvSpPr>
          <p:nvPr>
            <p:ph idx="1"/>
          </p:nvPr>
        </p:nvSpPr>
        <p:spPr>
          <a:xfrm>
            <a:off x="457200" y="1600200"/>
            <a:ext cx="8229600" cy="5257800"/>
          </a:xfrm>
        </p:spPr>
        <p:txBody>
          <a:bodyPr>
            <a:noAutofit/>
          </a:bodyPr>
          <a:lstStyle/>
          <a:p>
            <a:pPr algn="just"/>
            <a:r>
              <a:rPr lang="en-US" sz="2400" dirty="0">
                <a:latin typeface="Times New Roman" panose="02020603050405020304" pitchFamily="18" charset="0"/>
                <a:cs typeface="Times New Roman" panose="02020603050405020304" pitchFamily="18" charset="0"/>
              </a:rPr>
              <a:t>This project successfully demonstrated the forensic acquisition and analysis of a website using the FAW Lite tool. FAW Lite effectively captured website-related digital evidence, while Wireshark was used to validate and analyze network communication such as DNS queries, TCP connections, and TLS-encrypted traffic.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collected evidence was preserved in a forensically sound manner, making it suitable for further investigation. Overall, the project highlights the practical importance of website forensics and proves that FAW and Wireshark are useful tools for academic learning and digital forensic investigations.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599"/>
            <a:ext cx="7704407" cy="5875607"/>
          </a:xfrm>
        </p:spPr>
        <p:txBody>
          <a:bodyPr>
            <a:normAutofit/>
          </a:bodyPr>
          <a:lstStyle/>
          <a:p>
            <a:br>
              <a:rPr lang="en-US" sz="7200" dirty="0"/>
            </a:br>
            <a:br>
              <a:rPr lang="en-IN" sz="7200" dirty="0"/>
            </a:br>
            <a:r>
              <a:rPr lang="en-IN" sz="7200" dirty="0"/>
              <a:t>    </a:t>
            </a:r>
            <a:r>
              <a:rPr sz="7200" dirty="0">
                <a:solidFill>
                  <a:schemeClr val="tx2"/>
                </a:solidFill>
              </a:rPr>
              <a:t>Thank You</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47</TotalTime>
  <Words>519</Words>
  <Application>Microsoft Office PowerPoint</Application>
  <PresentationFormat>On-screen Show (4:3)</PresentationFormat>
  <Paragraphs>46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Times New Roman</vt:lpstr>
      <vt:lpstr>Trebuchet MS</vt:lpstr>
      <vt:lpstr>Wingdings 3</vt:lpstr>
      <vt:lpstr>Facet</vt:lpstr>
      <vt:lpstr>VISVESVARAYA TECHNOLOGICAL UNIVERSITY  Jnana Sangama, Belagavi-590018.         An Internship Report on  “WEBSITE FORENSIC”   Submitted in the partial fulfillment of the requirements for the award of the Degree of Master of technology  in  Cyber Security  By  CHANDRU R (1OX24SCR04)  Under the guidance of  Mr. Karthik</vt:lpstr>
      <vt:lpstr>INTRODUCTION</vt:lpstr>
      <vt:lpstr>COMPANY PROFILE – IGREEKS</vt:lpstr>
      <vt:lpstr>PROJECT OBJECTIVE</vt:lpstr>
      <vt:lpstr>SYSTEM REQUIREMENTS</vt:lpstr>
      <vt:lpstr>METHODOLOGY</vt:lpstr>
      <vt:lpstr>EVIDENCE COLLECTED</vt:lpstr>
      <vt:lpstr>ANALYSIS USING WIRESHARK</vt:lpstr>
      <vt:lpstr>RESULTS</vt:lpstr>
      <vt:lpstr>CONCLUSION</vt:lpstr>
      <vt:lpstr>      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keywords/>
  <dc:description>generated using python-pptx</dc:description>
  <cp:lastModifiedBy>Admin</cp:lastModifiedBy>
  <cp:revision>2</cp:revision>
  <dcterms:created xsi:type="dcterms:W3CDTF">2013-01-27T09:14:16Z</dcterms:created>
  <dcterms:modified xsi:type="dcterms:W3CDTF">2025-12-31T05:02:02Z</dcterms:modified>
  <cp:category/>
</cp:coreProperties>
</file>